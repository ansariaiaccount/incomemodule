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Module Integration Layer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 (System of Record) → PCS / Investran (IFRS Accounting) → Workday (General Ledger)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reconciliation and feedback to PortF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" y="2377440"/>
            <a:ext cx="3611880" cy="2834640"/>
          </a:xfrm>
          <a:prstGeom prst="rect">
            <a:avLst/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2377440"/>
            <a:ext cx="361188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22376" y="3090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3401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commercial reality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capture · ratchets · drawdowns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generation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+ approvals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 tracking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monitoring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88536" y="2377440"/>
            <a:ext cx="3611880" cy="2834640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88536" y="2377440"/>
            <a:ext cx="361188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/ Investran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62856" y="3090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Accounting Sub-ledger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3401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financial-statement representation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62856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 + amortised cost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amortisation (IFRS 9 / 15)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Stage 1/2/3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+ Hedge accounting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generation + disclosures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9016" y="2377440"/>
            <a:ext cx="3611880" cy="2834640"/>
          </a:xfrm>
          <a:prstGeom prst="rect">
            <a:avLst/>
          </a:prstGeom>
          <a:solidFill>
            <a:srgbClr val="0F4F73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9016" y="2377440"/>
            <a:ext cx="36118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03336" y="3090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03336" y="3401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batches · returns actuals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03336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DIU batches via externalKey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retries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GL accounts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actual cash settlements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period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5577840"/>
            <a:ext cx="9445752" cy="640080"/>
          </a:xfrm>
          <a:prstGeom prst="rect">
            <a:avLst/>
          </a:prstGeom>
          <a:solidFill>
            <a:srgbClr val="4ECDC4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71600" y="557784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· 5-stage pipeline orchestrating data + reconciliation between all three systems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Module Integration Layer · NWF / FIS Capital Partners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· 5 Stages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a clear owner. Data flows left-to-right; reconciliation flows back to PortF.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2323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123237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1232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 Inbound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contractual cashflows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Excel · Sample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175747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metadata · Fees · Daily schedule · Source badges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4717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5029" y="1371600"/>
            <a:ext cx="212323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5029" y="1371600"/>
            <a:ext cx="2123237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5029" y="1371600"/>
            <a:ext cx="21232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927909" y="2084832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Accounting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7909" y="2450592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· IFRS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7909" y="278892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IFRS journals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7909" y="324612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2927909" y="333756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27909" y="356616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overrides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7909" y="406908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927909" y="416052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27909" y="4389120"/>
            <a:ext cx="175747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 · ECL · Carrying value · DIU batch · 10 capability cards · 7 Evidence panels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2546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32858" y="1371600"/>
            <a:ext cx="212323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32858" y="1371600"/>
            <a:ext cx="2123237" cy="594360"/>
          </a:xfrm>
          <a:prstGeom prst="rect">
            <a:avLst/>
          </a:prstGeom>
          <a:solidFill>
            <a:srgbClr val="0F4F73"/>
          </a:solidFill>
          <a:ln/>
        </p:spPr>
      </p:sp>
      <p:sp>
        <p:nvSpPr>
          <p:cNvPr id="33" name="Text 31"/>
          <p:cNvSpPr/>
          <p:nvPr/>
        </p:nvSpPr>
        <p:spPr>
          <a:xfrm>
            <a:off x="5032858" y="1371600"/>
            <a:ext cx="21232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215738" y="2084832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GL Push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5738" y="2450592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4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GL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5738" y="278892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DIU batch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5738" y="324612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/>
          <p:nvPr/>
        </p:nvSpPr>
        <p:spPr>
          <a:xfrm>
            <a:off x="5215738" y="333756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5738" y="356616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externalKey idempotent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15738" y="406908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5215738" y="416052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5738" y="4389120"/>
            <a:ext cx="175747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+ PortfolioPosition tabs · Sequential batchIDs per glDate · CSV downloads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10374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0686" y="1371600"/>
            <a:ext cx="212323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20686" y="1371600"/>
            <a:ext cx="2123237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6" name="Text 44"/>
          <p:cNvSpPr/>
          <p:nvPr/>
        </p:nvSpPr>
        <p:spPr>
          <a:xfrm>
            <a:off x="7320686" y="1371600"/>
            <a:ext cx="21232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503566" y="2084832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Actuals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503566" y="2450592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GL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03566" y="278892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actual cash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03566" y="324612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Text 49"/>
          <p:cNvSpPr/>
          <p:nvPr/>
        </p:nvSpPr>
        <p:spPr>
          <a:xfrm>
            <a:off x="7503566" y="333756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03566" y="356616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 batches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03566" y="406908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Text 52"/>
          <p:cNvSpPr/>
          <p:nvPr/>
        </p:nvSpPr>
        <p:spPr>
          <a:xfrm>
            <a:off x="7503566" y="416052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03566" y="4389120"/>
            <a:ext cx="175747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Per-period actuals · Status flags · Batch list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98203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608515" y="1371600"/>
            <a:ext cx="212323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608515" y="1371600"/>
            <a:ext cx="2123237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9" name="Text 57"/>
          <p:cNvSpPr/>
          <p:nvPr/>
        </p:nvSpPr>
        <p:spPr>
          <a:xfrm>
            <a:off x="9608515" y="1371600"/>
            <a:ext cx="212323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9791395" y="2084832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9791395" y="2450592"/>
            <a:ext cx="17574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+ PortF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791395" y="278892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+ feedback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791395" y="324612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4" name="Text 62"/>
          <p:cNvSpPr/>
          <p:nvPr/>
        </p:nvSpPr>
        <p:spPr>
          <a:xfrm>
            <a:off x="9791395" y="333756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791395" y="3566160"/>
            <a:ext cx="17574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Per-batch · per-period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791395" y="4069080"/>
            <a:ext cx="1757477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7" name="Text 65"/>
          <p:cNvSpPr/>
          <p:nvPr/>
        </p:nvSpPr>
        <p:spPr>
          <a:xfrm>
            <a:off x="9791395" y="4160520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791395" y="4389120"/>
            <a:ext cx="175747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/ Within / Break · Feedback JSON to PortF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 &amp; 5 repeat each accounting period. Save / Load preserves all batches and reconciliations across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IFRS Accounting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EIR · amortised cost · fee amortisation · accruals · journals · ECL reserve · disclosures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69680" y="320040"/>
            <a:ext cx="283464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869680" y="868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capabilities · 0 gaps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109728" cy="2468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58191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Capability Cards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1920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IFRS-aligned accounting matrix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25856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§5.1 — initial recognition (AC / FVOCI / FVTPL)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§B5.4 — EIR (5 coupon families + multi-tranche)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§5.5 — ECL Stage 1 / 2 / 3 / POCI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§5.4.3 — modification accounting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§6 — hedge accounting (CFH / FVH)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13 §72 — fair value hierarchy + sensitivities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15 — fee revenue (over-time / point-in-time)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17320"/>
            <a:ext cx="109728" cy="2468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58191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Treatment Panel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6248" y="19202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live controls · auto re-run on change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6248" y="225856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SPPI · business model · FV Level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Stage · PD · LGD · CCF · macro overlay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current — auto-migrates Stage on threshold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 breach — qualitative SICR trigger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events (inline editor)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 contractual override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 IFRS 9 EIR vs IFRS 15 toggle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60520"/>
            <a:ext cx="109728" cy="2468880"/>
          </a:xfrm>
          <a:prstGeom prst="rect">
            <a:avLst/>
          </a:prstGeom>
          <a:solidFill>
            <a:srgbClr val="0F4F7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32511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7-Panel Evidence Pack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4663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4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Disclosure-grade on every Run Accounting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500176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+ Run Metadata (4-state workflow)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Value Waterfall (IAS 1 §54) + Memos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Period-on-Period Variance Walk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Sensitivities (IFRS 13 §93) by Level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Journal Templates (6 stage transitions)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Calculation Trace (PD × LGD × EAD × discount)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History + Audit Run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16052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4160520"/>
            <a:ext cx="109728" cy="24688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432511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+ Daily Schedule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56248" y="4663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live · 47-column CSV export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56248" y="500176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(life) · Fees (life) · PIK (life) · EIR Accretion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(113000) — DR/CR balance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Allowance (145000) — with stage label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Rows Generated 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 with 17 columns preview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events / All days / Month-end filters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CSV (47 fields) + JSON envelope 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journals balance · every change cascades · sequential month-end gates Draft → Reviewed → Approved → Posted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· What Gets Produced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auditable, downloadable deliverables for downstream systems and stakeholders.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94304" y="1463040"/>
            <a:ext cx="73152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194304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DIU Workbook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investran-diu-{deal}-{date}.xlsx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tab (25 cols, sequential batchID per glDate) + PortfolioPosition tab (15 cols matching DIU Sec master).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355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Investran-ready · sanitised · 2dp rounded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1584" y="132588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28688" y="1463040"/>
            <a:ext cx="7315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028688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20184" y="149047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 CSV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0184" y="187452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schedule-{deal}-{date}.csv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0184" y="224028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columns — every engine field (rate, balance, draws, fees, EIR, ECL, mod, FX, hedge MTM).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0184" y="324612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4520184" y="327355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BOM · filterable in-app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25968" y="132588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863072" y="1463040"/>
            <a:ext cx="731520" cy="292608"/>
          </a:xfrm>
          <a:prstGeom prst="rect">
            <a:avLst/>
          </a:prstGeom>
          <a:solidFill>
            <a:srgbClr val="0F4F73"/>
          </a:solidFill>
          <a:ln/>
        </p:spPr>
      </p:sp>
      <p:sp>
        <p:nvSpPr>
          <p:cNvPr id="23" name="Text 21"/>
          <p:cNvSpPr/>
          <p:nvPr/>
        </p:nvSpPr>
        <p:spPr>
          <a:xfrm>
            <a:off x="10863072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54568" y="149047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 Template (blank)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54568" y="187452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F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investran-diu-template-blank.csv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54568" y="224028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24-column DIU template for hand-off to operators or alternate ingestion paths.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54568" y="324612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8354568" y="327355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headers as Filled DIU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94304" y="4023360"/>
            <a:ext cx="73152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3194304" y="4023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405079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CSV (slim)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5800" y="4434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workday-diu-{deal}-{date}.csv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80060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12-column subset for Workday GL ingestion. Same sanitisation + balance check as the XLSX.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80644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583387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batch envelope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1584" y="388620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28688" y="4023360"/>
            <a:ext cx="73152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7028688" y="4023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20184" y="405079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 Feedback JSON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20184" y="4434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portf-feedback-{deal}-{date}.json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20184" y="480060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Per-batch reconciliation outcome — RECONCILED / RECONCILIATION_BREAKS — with line detail + actions.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0184" y="580644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4520184" y="583387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 /api/integration/feedback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25968" y="3886200"/>
            <a:ext cx="3605784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0863072" y="4023360"/>
            <a:ext cx="73152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10863072" y="40233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54568" y="4050792"/>
            <a:ext cx="2417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Save / Load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54568" y="443484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lmil-session-{deal}-{date}.json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54568" y="4800600"/>
            <a:ext cx="3148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state snapshot — restore the deal at any stage with all batches + reconciliations.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54568" y="5806440"/>
            <a:ext cx="3148584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Text 50"/>
          <p:cNvSpPr/>
          <p:nvPr/>
        </p:nvSpPr>
        <p:spPr>
          <a:xfrm>
            <a:off x="8354568" y="5833872"/>
            <a:ext cx="314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· also exportable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CSV outputs use UTF-8 BOM + ASCII sanitisation · money fields rounded to 2 decimal places.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Application Replaces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hand-off to balanced JEs in Workday — fully auditable, fully reconciled.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47188" cy="201168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47188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647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647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accounting-system requirement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fully covered in Stage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2988" y="1554480"/>
            <a:ext cx="2647188" cy="201168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2988" y="1554480"/>
            <a:ext cx="2647188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2988" y="1828800"/>
            <a:ext cx="2647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332988" y="269748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frameworks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2988" y="2971800"/>
            <a:ext cx="2647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/ 13 / 15 + IAS 1 / IFRS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§5.4.3 modification + §6 hedge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554480"/>
            <a:ext cx="2647188" cy="201168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554480"/>
            <a:ext cx="2647188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828800"/>
            <a:ext cx="2647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208776" y="269748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remaining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8776" y="2971800"/>
            <a:ext cx="2647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May 2026 5-gap closure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Accounting requirements doc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84564" y="1554480"/>
            <a:ext cx="2647188" cy="201168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4564" y="1554480"/>
            <a:ext cx="2647188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9084564" y="1828800"/>
            <a:ext cx="26471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084564" y="2697480"/>
            <a:ext cx="264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Assistant chat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84564" y="2971800"/>
            <a:ext cx="2647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FAQ (53 entries)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for any other question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D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live deliverables · every JE balances · every figure traceable to a source field · session state is persistable.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5454396" cy="169164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75488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accountants + auditors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12064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Value Waterfall (IAS 1 §54) ties cleanly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Calculation Trace (IFRS 9 §5.5.17) — every multiplicand visible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Per-fee IFRS treatment (IFRS 9 EIR vs IFRS 15) editable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Run History — last 10 runs, version + user + timestamp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4617720"/>
            <a:ext cx="5454396" cy="1691640"/>
          </a:xfrm>
          <a:prstGeom prst="rect">
            <a:avLst/>
          </a:prstGeom>
          <a:solidFill>
            <a:srgbClr val="12193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1676" y="475488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51676" y="5120640"/>
            <a:ext cx="49057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any stage · multi-period batch reconciliation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Auto-Stage migration on DPD threshold + covenant breach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Workday DIU push (deterministic externalKey)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Assistant chat for IFRS / ECL / how-to questions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Module Integration Layer · NWF / FIS Capital Partners · 2026 · loan-module-integration-layer.html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Module Integration Layer — Overview</dc:title>
  <dc:subject>PptxGenJS Presentation</dc:subject>
  <dc:creator>NWF / FIS Capital Partners</dc:creator>
  <cp:lastModifiedBy>NWF / FIS Capital Partners</cp:lastModifiedBy>
  <cp:revision>1</cp:revision>
  <dcterms:created xsi:type="dcterms:W3CDTF">2026-05-10T22:18:53Z</dcterms:created>
  <dcterms:modified xsi:type="dcterms:W3CDTF">2026-05-10T22:18:53Z</dcterms:modified>
</cp:coreProperties>
</file>